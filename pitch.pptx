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2" r:id="rId5"/>
    <p:sldId id="263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55"/>
    <p:restoredTop sz="94690"/>
  </p:normalViewPr>
  <p:slideViewPr>
    <p:cSldViewPr snapToGrid="0">
      <p:cViewPr varScale="1">
        <p:scale>
          <a:sx n="111" d="100"/>
          <a:sy n="111" d="100"/>
        </p:scale>
        <p:origin x="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D9E54-9F5F-DDD9-4574-52C388D9F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7248DB0-7E6D-05F0-1EAA-1C8DF8A65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6D34B1-6FD8-CFB0-BE58-3A878EED2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098E-F4F8-F04B-B208-B81BCAF14985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FB3675-63DA-163A-A09E-031C0D442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EDD645-6E7C-BEE8-BB9D-E4B6548C8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7AE6C-4C8A-B845-9396-26301073FC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545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9D10CA-599A-19BB-A3A4-5467F1238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D0FC7F-5C0C-2794-88AE-285366D7A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5B4F88-8551-DD4C-8C52-9CA420E40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098E-F4F8-F04B-B208-B81BCAF14985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13AFC2-C476-3578-1B64-B598DE402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2A292C-9F23-8767-CB7B-D06D13B49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7AE6C-4C8A-B845-9396-26301073FC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951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A5AF30-9FAF-5F6D-2D3F-15BD189AE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9CFB09-E59F-C1BC-C738-6AEE2422D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17516C-C80F-C824-3D50-C60239073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098E-F4F8-F04B-B208-B81BCAF14985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50941C-1AEB-53E9-AB0E-5A7D27354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B9A706-D1E2-DF8A-D8A2-A49D32FB5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7AE6C-4C8A-B845-9396-26301073FC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8207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EF9702-FFBE-37BE-446D-49EB84149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39049F-0FBB-92AE-93AE-753041640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4EC6BD-7F1A-D6C3-E9E2-9EE31A881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BB4464-7071-6960-5CC3-43709A2B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098E-F4F8-F04B-B208-B81BCAF14985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29C371-F27E-0859-C9C6-3CCE038C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94B234-CDEC-3B9C-376F-8CB937F2D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7AE6C-4C8A-B845-9396-26301073FC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3959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FA2447-ECCE-3F63-C64A-6F2D6003B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AF43DD-E0C6-7CDC-51B5-F9421D8EB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CD1951-1E17-F5E1-0AA7-BC11EB55F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66EC78C-422B-3990-9798-371DE2508A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4D2B75-344A-3D4F-C85F-6F5B821353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3F0A648-29EC-521A-716F-477D2EB61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098E-F4F8-F04B-B208-B81BCAF14985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D70EFF-BAD5-69C9-FEA5-CEEDAD59B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B63039-18B1-8791-1801-CEE3724ED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7AE6C-4C8A-B845-9396-26301073FC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0501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A43C75-D298-51FC-F1C7-95D8719D2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9B05D1-6478-F4EB-94BE-9743C74F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098E-F4F8-F04B-B208-B81BCAF14985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ACBCB0C-906A-807F-9347-317630A4D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F946A4-D1B1-C685-ACCC-6E05B3AAB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7AE6C-4C8A-B845-9396-26301073FC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4600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0BAEB81-FDB8-C418-ED81-68F50C88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098E-F4F8-F04B-B208-B81BCAF14985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B27344-28BE-80C5-1BF3-1EDE330DE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F8D985-D35F-6F51-C4F4-0D51D454F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7AE6C-4C8A-B845-9396-26301073FC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8488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316C04-F823-8BD1-7FC2-8B3324180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1964A7-EC96-B594-B003-B30A69E00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53D8B9-156E-08D3-CB09-7E9ED2884A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EB100F-7003-5B09-E0C9-15E01F52C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098E-F4F8-F04B-B208-B81BCAF14985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0DFC94-E906-D0CC-3124-D74CB207E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215D16-DCEF-AF1B-B097-BA479AEBA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7AE6C-4C8A-B845-9396-26301073FC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1766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9EDEA-7CD3-662E-8FEC-631DF2E0D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60C7CE-663F-C0FC-FD15-68A44CCAA8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DA20A7-B7EB-9119-97DA-B6B7FDB43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EE4367-B45F-7A5C-2E52-8C9597C40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098E-F4F8-F04B-B208-B81BCAF14985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AA2A1F-B2D0-3D77-0E00-ACD15A8E4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9A1F58-B6AA-8B53-085A-D8B87F53D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7AE6C-4C8A-B845-9396-26301073FC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6036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41C1EA-27CD-9122-36FC-EB9CE1B81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95501F-3743-8181-9436-072635E58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4CB5FF-E8C8-139E-BAB0-53905A56A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098E-F4F8-F04B-B208-B81BCAF14985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E0D5B6-1C6E-E90D-526A-44E8AF4A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99B03C-8737-CC79-F287-213372159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7AE6C-4C8A-B845-9396-26301073FC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5853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D54F7A5-9699-9956-0A61-A580DF71B5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2F2762-26D4-A62D-88FF-73DB5E5E2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461A7D-89D9-C07B-6379-DAE2DB08F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7098E-F4F8-F04B-B208-B81BCAF14985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6A6EF5-1670-9F7F-DA75-2718DD7E6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C6FBA2-711B-FBC6-D87F-EC59A0F85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7AE6C-4C8A-B845-9396-26301073FC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3610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57B567C-7D53-AAF2-1BD6-85500A71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2C5010-A4E2-D33C-1EA9-09E4E21BC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5003AE-06A2-3D9F-378A-074CFC0D0A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E7098E-F4F8-F04B-B208-B81BCAF14985}" type="datetimeFigureOut">
              <a:rPr kumimoji="1" lang="zh-CN" altLang="en-US" smtClean="0"/>
              <a:t>2025/10/20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2909D8-EE72-3CAA-AB36-512956EFD2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645955-6E45-BBDA-9F9D-9170886FD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7AE6C-4C8A-B845-9396-26301073FC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3940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950EEA-D93B-2C18-89D9-C809500E4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About</a:t>
            </a:r>
            <a:r>
              <a:rPr kumimoji="1" lang="zh-CN" altLang="en-US" dirty="0"/>
              <a:t> </a:t>
            </a:r>
            <a:r>
              <a:rPr kumimoji="1" lang="en-US" altLang="zh-CN" dirty="0"/>
              <a:t>me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186BF8-EB16-6DCD-96F1-ED25333EE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6625"/>
            <a:ext cx="6382407" cy="4351338"/>
          </a:xfrm>
        </p:spPr>
        <p:txBody>
          <a:bodyPr/>
          <a:lstStyle/>
          <a:p>
            <a:pPr algn="just"/>
            <a:r>
              <a:rPr kumimoji="1" lang="en-US" altLang="zh-CN" dirty="0"/>
              <a:t>Yushi</a:t>
            </a:r>
            <a:r>
              <a:rPr kumimoji="1" lang="zh-CN" altLang="en-US" dirty="0"/>
              <a:t> </a:t>
            </a:r>
            <a:r>
              <a:rPr kumimoji="1" lang="en-US" altLang="zh-CN" dirty="0"/>
              <a:t>Sun</a:t>
            </a:r>
            <a:r>
              <a:rPr kumimoji="1" lang="zh-CN" altLang="en-US" dirty="0"/>
              <a:t> </a:t>
            </a:r>
            <a:r>
              <a:rPr kumimoji="1" lang="en-US" altLang="zh-CN" dirty="0"/>
              <a:t>(Steve),</a:t>
            </a:r>
            <a:r>
              <a:rPr kumimoji="1" lang="zh-CN" altLang="en-US" dirty="0"/>
              <a:t> </a:t>
            </a:r>
            <a:r>
              <a:rPr kumimoji="1" lang="en-US" altLang="zh-CN" dirty="0"/>
              <a:t>PhD</a:t>
            </a:r>
            <a:r>
              <a:rPr kumimoji="1" lang="zh-CN" altLang="en-US" dirty="0"/>
              <a:t> </a:t>
            </a:r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/>
              <a:t>HKUST</a:t>
            </a:r>
          </a:p>
          <a:p>
            <a:pPr algn="just"/>
            <a:r>
              <a:rPr kumimoji="1" lang="en-US" altLang="zh-CN" dirty="0"/>
              <a:t>Supervised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by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Prof.</a:t>
            </a:r>
            <a:r>
              <a:rPr kumimoji="1" lang="zh-CN" altLang="en-US" dirty="0"/>
              <a:t> </a:t>
            </a:r>
            <a:r>
              <a:rPr kumimoji="1" lang="en-US" altLang="zh-CN" dirty="0"/>
              <a:t>Lei</a:t>
            </a:r>
            <a:r>
              <a:rPr kumimoji="1" lang="zh-CN" altLang="en-US" dirty="0"/>
              <a:t> </a:t>
            </a:r>
            <a:r>
              <a:rPr kumimoji="1" lang="en-US" altLang="zh-CN" dirty="0"/>
              <a:t>Chen</a:t>
            </a:r>
          </a:p>
          <a:p>
            <a:pPr algn="just"/>
            <a:r>
              <a:rPr kumimoji="1" lang="en-US" altLang="zh-CN" dirty="0"/>
              <a:t>Currently</a:t>
            </a:r>
            <a:r>
              <a:rPr kumimoji="1" lang="zh-CN" altLang="en-US" dirty="0"/>
              <a:t> </a:t>
            </a:r>
            <a:r>
              <a:rPr kumimoji="1" lang="en-US" altLang="zh-CN" dirty="0"/>
              <a:t>researcher</a:t>
            </a:r>
            <a:r>
              <a:rPr kumimoji="1" lang="zh-CN" altLang="en-US" dirty="0"/>
              <a:t> </a:t>
            </a:r>
            <a:r>
              <a:rPr kumimoji="1" lang="en-US" altLang="zh-CN" dirty="0"/>
              <a:t>at</a:t>
            </a:r>
            <a:r>
              <a:rPr kumimoji="1" lang="zh-CN" altLang="en-US" dirty="0"/>
              <a:t> </a:t>
            </a:r>
            <a:r>
              <a:rPr kumimoji="1" lang="en-US" altLang="zh-CN" dirty="0"/>
              <a:t>Tencent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Games</a:t>
            </a:r>
          </a:p>
          <a:p>
            <a:pPr algn="just"/>
            <a:r>
              <a:rPr kumimoji="1" lang="en-US" altLang="zh-CN" dirty="0"/>
              <a:t>Interest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</a:t>
            </a:r>
            <a:r>
              <a:rPr kumimoji="1" lang="en-US" altLang="zh-CN" dirty="0"/>
              <a:t>make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usable: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 algn="just"/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manage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data: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Curation</a:t>
            </a:r>
          </a:p>
          <a:p>
            <a:pPr lvl="1" algn="just"/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data:</a:t>
            </a:r>
            <a:r>
              <a:rPr kumimoji="1" lang="zh-CN" altLang="en-US" dirty="0"/>
              <a:t> </a:t>
            </a:r>
            <a:r>
              <a:rPr kumimoji="1" lang="en-US" altLang="zh-CN" dirty="0"/>
              <a:t>Retrieval-Augmented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Generation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06E1F87-136F-7947-7A51-35DC34229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321" y="1571078"/>
            <a:ext cx="37973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436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7C8E2-7E9C-DD49-B5B9-5E06E28FA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My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Interest</a:t>
            </a:r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5545B6E-B0B2-26D1-0B09-E2833BE0CA15}"/>
              </a:ext>
            </a:extLst>
          </p:cNvPr>
          <p:cNvSpPr/>
          <p:nvPr/>
        </p:nvSpPr>
        <p:spPr>
          <a:xfrm>
            <a:off x="548815" y="3213000"/>
            <a:ext cx="1980000" cy="432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Make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usable</a:t>
            </a:r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205B67A4-C2E4-38C9-B64C-F032C38976FB}"/>
              </a:ext>
            </a:extLst>
          </p:cNvPr>
          <p:cNvSpPr/>
          <p:nvPr/>
        </p:nvSpPr>
        <p:spPr>
          <a:xfrm>
            <a:off x="3283350" y="2406868"/>
            <a:ext cx="2304000" cy="432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manage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1EAF9584-9503-84F8-226D-C56C51245BA6}"/>
              </a:ext>
            </a:extLst>
          </p:cNvPr>
          <p:cNvSpPr/>
          <p:nvPr/>
        </p:nvSpPr>
        <p:spPr>
          <a:xfrm>
            <a:off x="3283350" y="4019133"/>
            <a:ext cx="2304000" cy="432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</a:t>
            </a:r>
            <a:endParaRPr kumimoji="1" lang="zh-CN" altLang="en-US" dirty="0"/>
          </a:p>
        </p:txBody>
      </p:sp>
      <p:cxnSp>
        <p:nvCxnSpPr>
          <p:cNvPr id="8" name="肘形连接符 7">
            <a:extLst>
              <a:ext uri="{FF2B5EF4-FFF2-40B4-BE49-F238E27FC236}">
                <a16:creationId xmlns:a16="http://schemas.microsoft.com/office/drawing/2014/main" id="{4537B137-7F6A-031A-1B3B-472EF7F72803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2528815" y="2622868"/>
            <a:ext cx="754535" cy="80613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肘形连接符 9">
            <a:extLst>
              <a:ext uri="{FF2B5EF4-FFF2-40B4-BE49-F238E27FC236}">
                <a16:creationId xmlns:a16="http://schemas.microsoft.com/office/drawing/2014/main" id="{DDEDB72D-EA41-CF78-77A5-91348983430D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528815" y="3429000"/>
            <a:ext cx="754535" cy="80613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C87B53B0-E81F-8A0F-0944-78636B63E455}"/>
              </a:ext>
            </a:extLst>
          </p:cNvPr>
          <p:cNvSpPr/>
          <p:nvPr/>
        </p:nvSpPr>
        <p:spPr>
          <a:xfrm>
            <a:off x="5836509" y="2406868"/>
            <a:ext cx="2052000" cy="432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Annotation</a:t>
            </a:r>
            <a:endParaRPr kumimoji="1" lang="zh-CN" altLang="en-US" dirty="0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E5031EE-2F53-B0B0-65F5-011D9A745312}"/>
              </a:ext>
            </a:extLst>
          </p:cNvPr>
          <p:cNvSpPr/>
          <p:nvPr/>
        </p:nvSpPr>
        <p:spPr>
          <a:xfrm>
            <a:off x="5836509" y="2913250"/>
            <a:ext cx="2052000" cy="432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Preparation</a:t>
            </a:r>
            <a:endParaRPr kumimoji="1" lang="zh-CN" altLang="en-US" dirty="0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1AF06ABA-AE41-BC92-AFE5-B255C44337CE}"/>
              </a:ext>
            </a:extLst>
          </p:cNvPr>
          <p:cNvSpPr/>
          <p:nvPr/>
        </p:nvSpPr>
        <p:spPr>
          <a:xfrm>
            <a:off x="5836509" y="3429000"/>
            <a:ext cx="2052000" cy="432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Organization</a:t>
            </a:r>
            <a:endParaRPr kumimoji="1" lang="zh-CN" altLang="en-US" dirty="0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E555836F-DCE1-2ACA-E193-F7768766822A}"/>
              </a:ext>
            </a:extLst>
          </p:cNvPr>
          <p:cNvSpPr/>
          <p:nvPr/>
        </p:nvSpPr>
        <p:spPr>
          <a:xfrm>
            <a:off x="5836509" y="4028775"/>
            <a:ext cx="2052000" cy="432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RAG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3E232F3-6282-C9AA-7DCE-0E72D415AADD}"/>
              </a:ext>
            </a:extLst>
          </p:cNvPr>
          <p:cNvSpPr txBox="1"/>
          <p:nvPr/>
        </p:nvSpPr>
        <p:spPr>
          <a:xfrm>
            <a:off x="8025841" y="2438202"/>
            <a:ext cx="3068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Cross</a:t>
            </a:r>
            <a:r>
              <a:rPr kumimoji="1" lang="zh-CN" altLang="en-US" dirty="0"/>
              <a:t> </a:t>
            </a:r>
            <a:r>
              <a:rPr kumimoji="1" lang="en-US" altLang="zh-CN" dirty="0"/>
              <a:t>Domain</a:t>
            </a:r>
            <a:r>
              <a:rPr kumimoji="1" lang="zh-CN" altLang="en-US" dirty="0"/>
              <a:t> </a:t>
            </a:r>
            <a:r>
              <a:rPr kumimoji="1" lang="en-US" altLang="zh-CN" dirty="0"/>
              <a:t>…</a:t>
            </a:r>
            <a:r>
              <a:rPr kumimoji="1" lang="zh-CN" altLang="en-US" dirty="0"/>
              <a:t> </a:t>
            </a:r>
            <a:r>
              <a:rPr kumimoji="1" lang="en-US" altLang="zh-CN" dirty="0"/>
              <a:t>(ICDE</a:t>
            </a:r>
            <a:r>
              <a:rPr kumimoji="1" lang="zh-CN" altLang="en-US" dirty="0"/>
              <a:t> </a:t>
            </a:r>
            <a:r>
              <a:rPr kumimoji="1" lang="en-US" altLang="zh-CN" dirty="0"/>
              <a:t>2024)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379FB8-EDCE-587C-4965-0B3F69A3A2DB}"/>
              </a:ext>
            </a:extLst>
          </p:cNvPr>
          <p:cNvSpPr txBox="1"/>
          <p:nvPr/>
        </p:nvSpPr>
        <p:spPr>
          <a:xfrm>
            <a:off x="8025839" y="2808657"/>
            <a:ext cx="36695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RECA</a:t>
            </a:r>
            <a:r>
              <a:rPr kumimoji="1" lang="zh-CN" altLang="en-US" dirty="0"/>
              <a:t> </a:t>
            </a:r>
            <a:r>
              <a:rPr kumimoji="1" lang="en-US" altLang="zh-CN" dirty="0"/>
              <a:t>(VLDB</a:t>
            </a:r>
            <a:r>
              <a:rPr kumimoji="1" lang="zh-CN" altLang="en-US" dirty="0"/>
              <a:t> </a:t>
            </a:r>
            <a:r>
              <a:rPr kumimoji="1" lang="en-US" altLang="zh-CN" dirty="0"/>
              <a:t>2023),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en-US" altLang="zh-CN" dirty="0" err="1"/>
              <a:t>LakeHopper</a:t>
            </a:r>
            <a:r>
              <a:rPr kumimoji="1" lang="zh-CN" altLang="en-US" dirty="0"/>
              <a:t> </a:t>
            </a:r>
            <a:r>
              <a:rPr kumimoji="1" lang="en-US" altLang="zh-CN" dirty="0"/>
              <a:t>(Submitted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KDD</a:t>
            </a:r>
            <a:r>
              <a:rPr kumimoji="1" lang="zh-CN" altLang="en-US" dirty="0"/>
              <a:t> </a:t>
            </a:r>
            <a:r>
              <a:rPr kumimoji="1" lang="en-US" altLang="zh-CN" dirty="0"/>
              <a:t>2026)</a:t>
            </a:r>
          </a:p>
          <a:p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9FF7957-FB72-46CA-B7CE-4F6B515E3C63}"/>
              </a:ext>
            </a:extLst>
          </p:cNvPr>
          <p:cNvSpPr txBox="1"/>
          <p:nvPr/>
        </p:nvSpPr>
        <p:spPr>
          <a:xfrm>
            <a:off x="8025839" y="3453714"/>
            <a:ext cx="27350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TaxoGlimpse</a:t>
            </a:r>
            <a:r>
              <a:rPr kumimoji="1" lang="zh-CN" altLang="en-US" dirty="0"/>
              <a:t> </a:t>
            </a:r>
            <a:r>
              <a:rPr kumimoji="1" lang="en-US" altLang="zh-CN" dirty="0"/>
              <a:t>(VLDB</a:t>
            </a:r>
            <a:r>
              <a:rPr kumimoji="1" lang="zh-CN" altLang="en-US" dirty="0"/>
              <a:t> </a:t>
            </a:r>
            <a:r>
              <a:rPr kumimoji="1" lang="en-US" altLang="zh-CN" dirty="0"/>
              <a:t>2024)</a:t>
            </a:r>
          </a:p>
          <a:p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F1C4387-ED0C-A107-D72C-B82F93A6359A}"/>
              </a:ext>
            </a:extLst>
          </p:cNvPr>
          <p:cNvSpPr txBox="1"/>
          <p:nvPr/>
        </p:nvSpPr>
        <p:spPr>
          <a:xfrm>
            <a:off x="8025839" y="4001189"/>
            <a:ext cx="33890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CRAG</a:t>
            </a:r>
            <a:r>
              <a:rPr kumimoji="1" lang="zh-CN" altLang="en-US" dirty="0"/>
              <a:t> 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NeurIPS</a:t>
            </a:r>
            <a:r>
              <a:rPr kumimoji="1" lang="zh-CN" altLang="en-US" dirty="0"/>
              <a:t> </a:t>
            </a:r>
            <a:r>
              <a:rPr kumimoji="1" lang="en-US" altLang="zh-CN" dirty="0"/>
              <a:t>2024),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en-US" altLang="zh-CN" dirty="0"/>
              <a:t>KERAG</a:t>
            </a:r>
            <a:r>
              <a:rPr kumimoji="1" lang="zh-CN" altLang="en-US" dirty="0"/>
              <a:t> </a:t>
            </a:r>
            <a:r>
              <a:rPr kumimoji="1" lang="en-US" altLang="zh-CN" dirty="0"/>
              <a:t>(EMNLP</a:t>
            </a:r>
            <a:r>
              <a:rPr kumimoji="1" lang="zh-CN" altLang="en-US" dirty="0"/>
              <a:t> </a:t>
            </a:r>
            <a:r>
              <a:rPr kumimoji="1" lang="en-US" altLang="zh-CN" dirty="0"/>
              <a:t>2025),</a:t>
            </a:r>
          </a:p>
          <a:p>
            <a:r>
              <a:rPr kumimoji="1" lang="en-US" altLang="zh-CN" dirty="0" err="1"/>
              <a:t>CacheRAG</a:t>
            </a:r>
            <a:r>
              <a:rPr kumimoji="1" lang="zh-CN" altLang="en-US" dirty="0"/>
              <a:t> </a:t>
            </a:r>
            <a:r>
              <a:rPr kumimoji="1" lang="en-US" altLang="zh-CN" dirty="0"/>
              <a:t>(Revision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VLDB</a:t>
            </a:r>
            <a:r>
              <a:rPr kumimoji="1" lang="zh-CN" altLang="en-US" dirty="0"/>
              <a:t> </a:t>
            </a:r>
            <a:r>
              <a:rPr kumimoji="1" lang="en-US" altLang="zh-CN" dirty="0"/>
              <a:t>2026)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746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103617-9AE5-85F0-6104-EDAE899E4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manage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</a:t>
            </a:r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9BAD0C11-6244-DFD6-55A4-96158EB0DA14}"/>
              </a:ext>
            </a:extLst>
          </p:cNvPr>
          <p:cNvSpPr/>
          <p:nvPr/>
        </p:nvSpPr>
        <p:spPr>
          <a:xfrm>
            <a:off x="636070" y="1752350"/>
            <a:ext cx="2052000" cy="432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Annotation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DBDFAA-0427-FA19-884F-273BDB70060E}"/>
              </a:ext>
            </a:extLst>
          </p:cNvPr>
          <p:cNvSpPr txBox="1"/>
          <p:nvPr/>
        </p:nvSpPr>
        <p:spPr>
          <a:xfrm>
            <a:off x="636071" y="2290066"/>
            <a:ext cx="511021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1400" b="1" dirty="0"/>
              <a:t>Cross-domain-aware Worker Selection with Training for Crowdsourced Annotation</a:t>
            </a:r>
            <a:r>
              <a:rPr kumimoji="1" lang="zh-CN" altLang="en-US" sz="1400" b="1" dirty="0"/>
              <a:t> </a:t>
            </a:r>
            <a:r>
              <a:rPr kumimoji="1" lang="en-US" altLang="zh-CN" sz="1400" b="1" dirty="0"/>
              <a:t>(ICDE</a:t>
            </a:r>
            <a:r>
              <a:rPr kumimoji="1" lang="zh-CN" altLang="en-US" sz="1400" b="1" dirty="0"/>
              <a:t> </a:t>
            </a:r>
            <a:r>
              <a:rPr kumimoji="1" lang="en-US" altLang="zh-CN" sz="1400" b="1" dirty="0"/>
              <a:t>2024)</a:t>
            </a:r>
          </a:p>
          <a:p>
            <a:pPr algn="just"/>
            <a:endParaRPr kumimoji="1" lang="en-US" altLang="zh-CN" sz="1400" dirty="0"/>
          </a:p>
          <a:p>
            <a:pPr algn="just"/>
            <a:r>
              <a:rPr kumimoji="1" lang="en-US" altLang="zh-CN" sz="1400" b="1" dirty="0"/>
              <a:t>Task:</a:t>
            </a:r>
            <a:r>
              <a:rPr kumimoji="1" lang="zh-CN" altLang="en-US" sz="1400" b="1" dirty="0"/>
              <a:t> </a:t>
            </a:r>
            <a:r>
              <a:rPr kumimoji="1" lang="en-US" altLang="zh-CN" sz="1400" dirty="0"/>
              <a:t>Cross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domain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worker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selection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for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data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annotation.</a:t>
            </a:r>
          </a:p>
          <a:p>
            <a:pPr algn="just"/>
            <a:r>
              <a:rPr kumimoji="1" lang="en-US" altLang="zh-CN" sz="1400" b="1" dirty="0"/>
              <a:t>Challenges</a:t>
            </a:r>
            <a:r>
              <a:rPr kumimoji="1" lang="zh-CN" altLang="en-US" sz="1400" b="1" dirty="0"/>
              <a:t> </a:t>
            </a:r>
            <a:r>
              <a:rPr kumimoji="1" lang="en-US" altLang="zh-CN" sz="1400" b="1" dirty="0"/>
              <a:t>/</a:t>
            </a:r>
            <a:r>
              <a:rPr kumimoji="1" lang="zh-CN" altLang="en-US" sz="1400" b="1" dirty="0"/>
              <a:t> </a:t>
            </a:r>
            <a:r>
              <a:rPr kumimoji="1" lang="en-US" altLang="zh-CN" sz="1400" b="1" dirty="0"/>
              <a:t>Limitations:</a:t>
            </a:r>
            <a:r>
              <a:rPr kumimoji="1" lang="zh-CN" altLang="en-US" sz="1400" b="1" dirty="0"/>
              <a:t> </a:t>
            </a:r>
            <a:endParaRPr kumimoji="1" lang="en-US" altLang="zh-CN" sz="1400" b="1" dirty="0"/>
          </a:p>
          <a:p>
            <a:pPr marL="342900" indent="-342900" algn="just">
              <a:buAutoNum type="arabicParenR"/>
            </a:pPr>
            <a:r>
              <a:rPr kumimoji="1" lang="en-US" altLang="zh-CN" sz="1400" dirty="0"/>
              <a:t>cross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domain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knowledge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estimation.</a:t>
            </a:r>
          </a:p>
          <a:p>
            <a:pPr marL="342900" indent="-342900" algn="just">
              <a:buAutoNum type="arabicParenR"/>
            </a:pPr>
            <a:r>
              <a:rPr kumimoji="1" lang="en-US" altLang="zh-CN" sz="1400" dirty="0"/>
              <a:t>dynamic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worker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knowledge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change.</a:t>
            </a:r>
          </a:p>
          <a:p>
            <a:pPr algn="just"/>
            <a:r>
              <a:rPr kumimoji="1" lang="en-US" altLang="zh-CN" sz="1400" b="1" dirty="0"/>
              <a:t>Solution:</a:t>
            </a:r>
            <a:r>
              <a:rPr kumimoji="1" lang="zh-CN" altLang="en-US" sz="1400" b="1" dirty="0"/>
              <a:t> </a:t>
            </a:r>
            <a:endParaRPr kumimoji="1" lang="en-US" altLang="zh-CN" sz="1400" b="1" dirty="0"/>
          </a:p>
          <a:p>
            <a:pPr algn="just"/>
            <a:r>
              <a:rPr kumimoji="1" lang="en-US" altLang="zh-CN" sz="1400" dirty="0"/>
              <a:t>A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medium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elimination-based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worker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selection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methods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to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select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crowd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workers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on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the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target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domain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based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on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the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history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and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the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golden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target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questions.</a:t>
            </a:r>
          </a:p>
          <a:p>
            <a:pPr marL="342900" indent="-342900" algn="just">
              <a:buAutoNum type="arabicParenR"/>
            </a:pPr>
            <a:r>
              <a:rPr kumimoji="1" lang="en-US" altLang="zh-CN" sz="1400" dirty="0"/>
              <a:t>multi-variate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normal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distribution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for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modeling.</a:t>
            </a:r>
          </a:p>
          <a:p>
            <a:pPr marL="342900" indent="-342900" algn="just">
              <a:buAutoNum type="arabicParenR"/>
            </a:pPr>
            <a:r>
              <a:rPr kumimoji="1" lang="en-US" altLang="zh-CN" sz="1400" dirty="0"/>
              <a:t>Item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response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theory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to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model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worker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learning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progress.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A978694-16A2-6206-E375-7F812768E4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119" y="1723477"/>
            <a:ext cx="5942954" cy="330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094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461C8-08E9-57F6-34CA-A0EA04B96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6B8435-9AB3-3E1D-68E1-56BDCB335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manage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</a:t>
            </a:r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2D90639A-389C-33DD-BC6B-9504DBFF2A9D}"/>
              </a:ext>
            </a:extLst>
          </p:cNvPr>
          <p:cNvSpPr/>
          <p:nvPr/>
        </p:nvSpPr>
        <p:spPr>
          <a:xfrm>
            <a:off x="636070" y="1505944"/>
            <a:ext cx="2052000" cy="432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Preparation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79CBB97-B4BE-3CBA-BCE7-430A3879335E}"/>
              </a:ext>
            </a:extLst>
          </p:cNvPr>
          <p:cNvSpPr txBox="1"/>
          <p:nvPr/>
        </p:nvSpPr>
        <p:spPr>
          <a:xfrm>
            <a:off x="636071" y="1937944"/>
            <a:ext cx="4044646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00" b="1" dirty="0"/>
              <a:t>RECA</a:t>
            </a:r>
            <a:r>
              <a:rPr kumimoji="1" lang="zh-CN" altLang="en-US" sz="1300" b="1" dirty="0"/>
              <a:t> </a:t>
            </a:r>
            <a:r>
              <a:rPr kumimoji="1" lang="en-US" altLang="zh-CN" sz="1300" b="1" dirty="0"/>
              <a:t>(VLDB</a:t>
            </a:r>
            <a:r>
              <a:rPr kumimoji="1" lang="zh-CN" altLang="en-US" sz="1300" b="1" dirty="0"/>
              <a:t> </a:t>
            </a:r>
            <a:r>
              <a:rPr kumimoji="1" lang="en-US" altLang="zh-CN" sz="1300" b="1" dirty="0"/>
              <a:t>2023)</a:t>
            </a:r>
          </a:p>
          <a:p>
            <a:r>
              <a:rPr kumimoji="1" lang="en-US" altLang="zh-CN" sz="1300" b="1" dirty="0"/>
              <a:t>Task:</a:t>
            </a:r>
            <a:r>
              <a:rPr kumimoji="1" lang="zh-CN" altLang="en-US" sz="1300" b="1" dirty="0"/>
              <a:t> </a:t>
            </a:r>
            <a:r>
              <a:rPr kumimoji="1" lang="en-US" altLang="zh-CN" sz="1300" dirty="0"/>
              <a:t>Column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Semantic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Type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Annotation</a:t>
            </a:r>
          </a:p>
          <a:p>
            <a:r>
              <a:rPr kumimoji="1" lang="en-US" altLang="zh-CN" sz="1300" b="1" dirty="0"/>
              <a:t>Challenges</a:t>
            </a:r>
            <a:r>
              <a:rPr kumimoji="1" lang="zh-CN" altLang="en-US" sz="1300" b="1" dirty="0"/>
              <a:t> </a:t>
            </a:r>
            <a:r>
              <a:rPr kumimoji="1" lang="en-US" altLang="zh-CN" sz="1300" b="1" dirty="0"/>
              <a:t>/</a:t>
            </a:r>
            <a:r>
              <a:rPr kumimoji="1" lang="zh-CN" altLang="en-US" sz="1300" b="1" dirty="0"/>
              <a:t> </a:t>
            </a:r>
            <a:r>
              <a:rPr kumimoji="1" lang="en-US" altLang="zh-CN" sz="1300" b="1" dirty="0"/>
              <a:t>Limitations:</a:t>
            </a:r>
          </a:p>
          <a:p>
            <a:pPr marL="342900" indent="-342900">
              <a:buAutoNum type="arabicParenR"/>
            </a:pPr>
            <a:r>
              <a:rPr kumimoji="1" lang="en-US" altLang="zh-CN" sz="1300" dirty="0"/>
              <a:t>Inter-table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context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information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is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neglected.</a:t>
            </a:r>
          </a:p>
          <a:p>
            <a:r>
              <a:rPr kumimoji="1" lang="en-US" altLang="zh-CN" sz="1300" b="1" dirty="0"/>
              <a:t>Solution:</a:t>
            </a:r>
          </a:p>
          <a:p>
            <a:r>
              <a:rPr kumimoji="1" lang="en-US" altLang="zh-CN" sz="1300" dirty="0"/>
              <a:t>A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BERT-based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inter-table-context-aware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solution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for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table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annotation.</a:t>
            </a:r>
          </a:p>
          <a:p>
            <a:pPr marL="342900" indent="-342900">
              <a:buAutoNum type="arabicParenR"/>
            </a:pPr>
            <a:r>
              <a:rPr kumimoji="1" lang="en-US" altLang="zh-CN" sz="1300" dirty="0"/>
              <a:t>A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named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entity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table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schema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for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inter-table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context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alignment.</a:t>
            </a:r>
          </a:p>
          <a:p>
            <a:endParaRPr kumimoji="1" lang="en-US" altLang="zh-CN" sz="1300" b="1" dirty="0"/>
          </a:p>
          <a:p>
            <a:endParaRPr kumimoji="1" lang="zh-CN" altLang="en-US" sz="13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FAA387-93B8-3DB7-DD61-ED8030F93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9" y="4096529"/>
            <a:ext cx="5362073" cy="239634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E2DD5F0-3440-5067-A00E-761F739D4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971" y="1415259"/>
            <a:ext cx="7460536" cy="270435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88919D9-0EEC-DC73-4406-1B0C56F0535C}"/>
              </a:ext>
            </a:extLst>
          </p:cNvPr>
          <p:cNvSpPr txBox="1"/>
          <p:nvPr/>
        </p:nvSpPr>
        <p:spPr>
          <a:xfrm>
            <a:off x="636070" y="3819530"/>
            <a:ext cx="576472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300" b="1" dirty="0" err="1"/>
              <a:t>LakeHopper</a:t>
            </a:r>
            <a:r>
              <a:rPr kumimoji="1" lang="zh-CN" altLang="en-US" sz="1300" b="1" dirty="0"/>
              <a:t> </a:t>
            </a:r>
            <a:r>
              <a:rPr kumimoji="1" lang="en-US" altLang="zh-CN" sz="1300" b="1" dirty="0"/>
              <a:t>(Submitted</a:t>
            </a:r>
            <a:r>
              <a:rPr kumimoji="1" lang="zh-CN" altLang="en-US" sz="1300" b="1" dirty="0"/>
              <a:t> </a:t>
            </a:r>
            <a:r>
              <a:rPr kumimoji="1" lang="en-US" altLang="zh-CN" sz="1300" b="1" dirty="0"/>
              <a:t>KDD</a:t>
            </a:r>
            <a:r>
              <a:rPr kumimoji="1" lang="zh-CN" altLang="en-US" sz="1300" b="1" dirty="0"/>
              <a:t> </a:t>
            </a:r>
            <a:r>
              <a:rPr kumimoji="1" lang="en-US" altLang="zh-CN" sz="1300" b="1" dirty="0"/>
              <a:t>2026)</a:t>
            </a:r>
          </a:p>
          <a:p>
            <a:r>
              <a:rPr kumimoji="1" lang="en-US" altLang="zh-CN" sz="1300" b="1" dirty="0"/>
              <a:t>Task:</a:t>
            </a:r>
            <a:r>
              <a:rPr kumimoji="1" lang="zh-CN" altLang="en-US" sz="1300" b="1" dirty="0"/>
              <a:t> </a:t>
            </a:r>
            <a:r>
              <a:rPr kumimoji="1" lang="en-US" altLang="zh-CN" sz="1300" dirty="0"/>
              <a:t>Cross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Data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Lake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Column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Semantic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Type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Annotation</a:t>
            </a:r>
            <a:endParaRPr kumimoji="1" lang="en-US" altLang="zh-CN" sz="1300" b="1" dirty="0"/>
          </a:p>
          <a:p>
            <a:r>
              <a:rPr kumimoji="1" lang="en-US" altLang="zh-CN" sz="1300" b="1" dirty="0"/>
              <a:t>Challenges</a:t>
            </a:r>
            <a:r>
              <a:rPr kumimoji="1" lang="zh-CN" altLang="en-US" sz="1300" b="1" dirty="0"/>
              <a:t> </a:t>
            </a:r>
            <a:r>
              <a:rPr kumimoji="1" lang="en-US" altLang="zh-CN" sz="1300" b="1" dirty="0"/>
              <a:t>/</a:t>
            </a:r>
            <a:r>
              <a:rPr kumimoji="1" lang="zh-CN" altLang="en-US" sz="1300" b="1" dirty="0"/>
              <a:t> </a:t>
            </a:r>
            <a:r>
              <a:rPr kumimoji="1" lang="en-US" altLang="zh-CN" sz="1300" b="1" dirty="0"/>
              <a:t>Limitations:</a:t>
            </a:r>
          </a:p>
          <a:p>
            <a:pPr marL="342900" indent="-342900">
              <a:buAutoNum type="arabicParenR"/>
            </a:pPr>
            <a:r>
              <a:rPr kumimoji="1" lang="en-US" altLang="zh-CN" sz="1300" dirty="0"/>
              <a:t>Cross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data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lake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table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annotation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performance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is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poor.</a:t>
            </a:r>
          </a:p>
          <a:p>
            <a:pPr marL="342900" indent="-342900">
              <a:buAutoNum type="arabicParenR"/>
            </a:pPr>
            <a:r>
              <a:rPr kumimoji="1" lang="en-US" altLang="zh-CN" sz="1300" dirty="0"/>
              <a:t>Retrain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annotator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is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too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expensive.</a:t>
            </a:r>
          </a:p>
          <a:p>
            <a:pPr marL="342900" indent="-342900">
              <a:buFontTx/>
              <a:buAutoNum type="arabicParenR"/>
            </a:pPr>
            <a:r>
              <a:rPr kumimoji="1" lang="en-US" altLang="zh-CN" sz="1300" dirty="0"/>
              <a:t>Reuse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of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existing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trained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table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annotation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models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is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neglected.</a:t>
            </a:r>
          </a:p>
          <a:p>
            <a:r>
              <a:rPr kumimoji="1" lang="en-US" altLang="zh-CN" sz="1300" b="1" dirty="0"/>
              <a:t>Solution:</a:t>
            </a:r>
          </a:p>
          <a:p>
            <a:r>
              <a:rPr kumimoji="1" lang="en-US" altLang="zh-CN" sz="1300" dirty="0"/>
              <a:t>A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PLM-LLM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collaborated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framework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that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identifies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the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difficult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samples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from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the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target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data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lake.</a:t>
            </a:r>
          </a:p>
          <a:p>
            <a:pPr marL="342900" indent="-342900">
              <a:buAutoNum type="arabicParenR"/>
            </a:pPr>
            <a:r>
              <a:rPr kumimoji="1" lang="en-US" altLang="zh-CN" sz="1300" dirty="0"/>
              <a:t>The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world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knowledge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of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LLM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helps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the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PLM-based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table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annotators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identify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the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useful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weak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samples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from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the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target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data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lake.</a:t>
            </a:r>
          </a:p>
          <a:p>
            <a:pPr marL="342900" indent="-342900">
              <a:buAutoNum type="arabicParenR"/>
            </a:pPr>
            <a:r>
              <a:rPr kumimoji="1" lang="en-US" altLang="zh-CN" sz="1300" dirty="0"/>
              <a:t>An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incremental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gap-hopping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finetuning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mechanism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that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helps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the</a:t>
            </a:r>
            <a:r>
              <a:rPr kumimoji="1" lang="zh-CN" altLang="en-US" sz="1300" dirty="0"/>
              <a:t> </a:t>
            </a:r>
            <a:r>
              <a:rPr kumimoji="1" lang="en-US" altLang="zh-CN" sz="1300" dirty="0"/>
              <a:t>transfer.</a:t>
            </a:r>
          </a:p>
          <a:p>
            <a:endParaRPr kumimoji="1" lang="zh-CN" altLang="en-US" sz="1300" dirty="0"/>
          </a:p>
        </p:txBody>
      </p:sp>
    </p:spTree>
    <p:extLst>
      <p:ext uri="{BB962C8B-B14F-4D97-AF65-F5344CB8AC3E}">
        <p14:creationId xmlns:p14="http://schemas.microsoft.com/office/powerpoint/2010/main" val="673476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D0BF1-902E-49C2-86E6-CEBB46080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>
            <a:extLst>
              <a:ext uri="{FF2B5EF4-FFF2-40B4-BE49-F238E27FC236}">
                <a16:creationId xmlns:a16="http://schemas.microsoft.com/office/drawing/2014/main" id="{A86BFE4F-F00A-6BAC-CBEB-D4345F54F51B}"/>
              </a:ext>
            </a:extLst>
          </p:cNvPr>
          <p:cNvSpPr/>
          <p:nvPr/>
        </p:nvSpPr>
        <p:spPr>
          <a:xfrm>
            <a:off x="636070" y="1753200"/>
            <a:ext cx="2052000" cy="432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Organization</a:t>
            </a:r>
            <a:endParaRPr kumimoji="1"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06DCE2-4559-7DFD-1798-BE118828C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manage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EA811F-69B0-5540-9B61-3FCA832617F8}"/>
              </a:ext>
            </a:extLst>
          </p:cNvPr>
          <p:cNvSpPr txBox="1"/>
          <p:nvPr/>
        </p:nvSpPr>
        <p:spPr>
          <a:xfrm>
            <a:off x="636070" y="2185200"/>
            <a:ext cx="545993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 err="1"/>
              <a:t>TaxoGlimpse</a:t>
            </a:r>
            <a:r>
              <a:rPr kumimoji="1" lang="zh-CN" altLang="en-US" sz="1400" b="1" dirty="0"/>
              <a:t> </a:t>
            </a:r>
            <a:r>
              <a:rPr kumimoji="1" lang="en-US" altLang="zh-CN" sz="1400" b="1" dirty="0"/>
              <a:t>(VLDB</a:t>
            </a:r>
            <a:r>
              <a:rPr kumimoji="1" lang="zh-CN" altLang="en-US" sz="1400" b="1" dirty="0"/>
              <a:t> </a:t>
            </a:r>
            <a:r>
              <a:rPr kumimoji="1" lang="en-US" altLang="zh-CN" sz="1400" b="1" dirty="0"/>
              <a:t>2024)</a:t>
            </a:r>
          </a:p>
          <a:p>
            <a:r>
              <a:rPr kumimoji="1" lang="en-US" altLang="zh-CN" sz="1400" b="1" dirty="0"/>
              <a:t>Task:</a:t>
            </a:r>
            <a:r>
              <a:rPr kumimoji="1" lang="zh-CN" altLang="en-US" sz="1400" b="1" dirty="0"/>
              <a:t> </a:t>
            </a:r>
            <a:r>
              <a:rPr kumimoji="1" lang="en-US" altLang="zh-CN" sz="1400" dirty="0"/>
              <a:t>Benchmarking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the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performance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of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LLM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on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ontology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learning.</a:t>
            </a:r>
            <a:endParaRPr kumimoji="1" lang="en-US" altLang="zh-CN" sz="1400" b="1" dirty="0"/>
          </a:p>
          <a:p>
            <a:r>
              <a:rPr kumimoji="1" lang="en-US" altLang="zh-CN" sz="1400" b="1" dirty="0"/>
              <a:t>Challenges</a:t>
            </a:r>
            <a:r>
              <a:rPr kumimoji="1" lang="zh-CN" altLang="en-US" sz="1400" b="1" dirty="0"/>
              <a:t> </a:t>
            </a:r>
            <a:r>
              <a:rPr kumimoji="1" lang="en-US" altLang="zh-CN" sz="1400" b="1" dirty="0"/>
              <a:t>\</a:t>
            </a:r>
            <a:r>
              <a:rPr kumimoji="1" lang="zh-CN" altLang="en-US" sz="1400" b="1" dirty="0"/>
              <a:t> </a:t>
            </a:r>
            <a:r>
              <a:rPr kumimoji="1" lang="en-US" altLang="zh-CN" sz="1400" b="1" dirty="0"/>
              <a:t>Limitations:</a:t>
            </a:r>
          </a:p>
          <a:p>
            <a:r>
              <a:rPr kumimoji="1" lang="en-US" altLang="zh-CN" sz="1400" dirty="0"/>
              <a:t>New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paradigm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of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data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organization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in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the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era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of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LLMs?</a:t>
            </a:r>
          </a:p>
          <a:p>
            <a:r>
              <a:rPr kumimoji="1" lang="en-US" altLang="zh-CN" sz="1400" dirty="0"/>
              <a:t>The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performance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of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LLMs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in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internalizing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the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ontology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information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of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different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data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entities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is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unknown.</a:t>
            </a:r>
          </a:p>
          <a:p>
            <a:r>
              <a:rPr kumimoji="1" lang="en-US" altLang="zh-CN" sz="1400" b="1" dirty="0"/>
              <a:t>Solution</a:t>
            </a:r>
            <a:r>
              <a:rPr kumimoji="1" lang="zh-CN" altLang="en-US" sz="1400" b="1" dirty="0"/>
              <a:t> </a:t>
            </a:r>
            <a:r>
              <a:rPr kumimoji="1" lang="en-US" altLang="zh-CN" sz="1400" b="1" dirty="0"/>
              <a:t>and</a:t>
            </a:r>
            <a:r>
              <a:rPr kumimoji="1" lang="zh-CN" altLang="en-US" sz="1400" b="1" dirty="0"/>
              <a:t> </a:t>
            </a:r>
            <a:r>
              <a:rPr kumimoji="1" lang="en-US" altLang="zh-CN" sz="1400" b="1" dirty="0"/>
              <a:t>Insights:</a:t>
            </a:r>
          </a:p>
          <a:p>
            <a:r>
              <a:rPr kumimoji="1" lang="en-US" altLang="zh-CN" sz="1400" dirty="0"/>
              <a:t>We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create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a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benchmark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to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systematically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evaluate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the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performance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of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LLMs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on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multiple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domains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and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multiple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levels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in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the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taxonomies.</a:t>
            </a:r>
          </a:p>
          <a:p>
            <a:pPr marL="342900" indent="-342900">
              <a:buAutoNum type="arabicParenR"/>
            </a:pPr>
            <a:r>
              <a:rPr kumimoji="1" lang="en-US" altLang="zh-CN" sz="1400" dirty="0"/>
              <a:t>LLMs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are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good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at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common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domain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taxonomy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knowledge,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weak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on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specialized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taxonomies.</a:t>
            </a:r>
          </a:p>
          <a:p>
            <a:pPr marL="342900" indent="-342900">
              <a:buAutoNum type="arabicParenR"/>
            </a:pPr>
            <a:r>
              <a:rPr kumimoji="1" lang="en-US" altLang="zh-CN" sz="1400" dirty="0"/>
              <a:t>LLMs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are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good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at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root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level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taxonomy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structure,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weak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on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leaf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levels.</a:t>
            </a:r>
          </a:p>
          <a:p>
            <a:pPr marL="342900" indent="-342900">
              <a:buAutoNum type="arabicParenR"/>
            </a:pPr>
            <a:r>
              <a:rPr kumimoji="1" lang="en-US" altLang="zh-CN" sz="1400" dirty="0"/>
              <a:t>A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novel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data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organization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structure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-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neural-symbolic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structure: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internalize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the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root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level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and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common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domain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data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in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LLMs,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keep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the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leaf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level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and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specialized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domain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data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in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explicit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triple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forms.</a:t>
            </a:r>
            <a:endParaRPr kumimoji="1" lang="zh-CN" altLang="en-US" sz="1400" dirty="0"/>
          </a:p>
        </p:txBody>
      </p:sp>
      <p:pic>
        <p:nvPicPr>
          <p:cNvPr id="3" name="图片 2" descr="图片包含 桌子, 布, 站, 一群&#10;&#10;描述已自动生成">
            <a:extLst>
              <a:ext uri="{FF2B5EF4-FFF2-40B4-BE49-F238E27FC236}">
                <a16:creationId xmlns:a16="http://schemas.microsoft.com/office/drawing/2014/main" id="{AC28AE61-5FCD-0AEC-1399-8D28412BA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822" y="1279524"/>
            <a:ext cx="4953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450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9ACEAD-CB22-BF45-2A07-E2A8C264D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</a:t>
            </a:r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11FD4D8-7E04-F1F2-CF7E-38934858F3D4}"/>
              </a:ext>
            </a:extLst>
          </p:cNvPr>
          <p:cNvSpPr/>
          <p:nvPr/>
        </p:nvSpPr>
        <p:spPr>
          <a:xfrm>
            <a:off x="838200" y="1514741"/>
            <a:ext cx="2052000" cy="432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RAG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B2FFA4-D399-97FB-E51C-B98C06671768}"/>
              </a:ext>
            </a:extLst>
          </p:cNvPr>
          <p:cNvSpPr txBox="1"/>
          <p:nvPr/>
        </p:nvSpPr>
        <p:spPr>
          <a:xfrm>
            <a:off x="272518" y="2025908"/>
            <a:ext cx="395176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1400" b="1" dirty="0"/>
              <a:t>CRAG (</a:t>
            </a:r>
            <a:r>
              <a:rPr kumimoji="1" lang="en-US" altLang="zh-CN" sz="1400" b="1" dirty="0" err="1"/>
              <a:t>NeurIPS</a:t>
            </a:r>
            <a:r>
              <a:rPr kumimoji="1" lang="zh-CN" altLang="en-US" sz="1400" b="1" dirty="0"/>
              <a:t> </a:t>
            </a:r>
            <a:r>
              <a:rPr kumimoji="1" lang="en-US" altLang="zh-CN" sz="1400" b="1" dirty="0"/>
              <a:t>2024)</a:t>
            </a:r>
          </a:p>
          <a:p>
            <a:pPr algn="just"/>
            <a:endParaRPr kumimoji="1" lang="en-US" altLang="zh-CN" sz="1400" dirty="0"/>
          </a:p>
          <a:p>
            <a:pPr algn="just"/>
            <a:r>
              <a:rPr kumimoji="1" lang="en-US" altLang="zh-CN" sz="1400" b="1" dirty="0"/>
              <a:t>Task:</a:t>
            </a:r>
            <a:r>
              <a:rPr kumimoji="1" lang="zh-CN" altLang="en-US" sz="1400" b="1" dirty="0"/>
              <a:t> </a:t>
            </a:r>
            <a:r>
              <a:rPr kumimoji="1" lang="en-US" altLang="zh-CN" sz="1400" dirty="0"/>
              <a:t>Benchmarking the performance of LLMs and RAG systems in answering questions with different timeliness, domains, and popularities</a:t>
            </a:r>
          </a:p>
          <a:p>
            <a:pPr algn="just"/>
            <a:r>
              <a:rPr kumimoji="1" lang="en-US" altLang="zh-CN" sz="1400" b="1" dirty="0"/>
              <a:t>Challenges</a:t>
            </a:r>
            <a:r>
              <a:rPr kumimoji="1" lang="zh-CN" altLang="en-US" sz="1400" b="1" dirty="0"/>
              <a:t> </a:t>
            </a:r>
            <a:r>
              <a:rPr kumimoji="1" lang="en-US" altLang="zh-CN" sz="1400" b="1" dirty="0"/>
              <a:t>/</a:t>
            </a:r>
            <a:r>
              <a:rPr kumimoji="1" lang="zh-CN" altLang="en-US" sz="1400" b="1" dirty="0"/>
              <a:t> </a:t>
            </a:r>
            <a:r>
              <a:rPr kumimoji="1" lang="en-US" altLang="zh-CN" sz="1400" b="1" dirty="0"/>
              <a:t>Limitations:</a:t>
            </a:r>
            <a:r>
              <a:rPr kumimoji="1" lang="zh-CN" altLang="en-US" sz="1400" b="1" dirty="0"/>
              <a:t> </a:t>
            </a:r>
            <a:endParaRPr kumimoji="1" lang="en-US" altLang="zh-CN" sz="1400" b="1" dirty="0"/>
          </a:p>
          <a:p>
            <a:pPr algn="just"/>
            <a:r>
              <a:rPr kumimoji="1" lang="en-US" altLang="zh-CN" sz="1400" dirty="0"/>
              <a:t>Lack of systematic evaluation of LLMs and RAG systems in terms of questions with: 1) different timeliness; 2) different domains; 3) different question types; 4) different popularities.</a:t>
            </a:r>
          </a:p>
          <a:p>
            <a:pPr algn="just"/>
            <a:r>
              <a:rPr kumimoji="1" lang="en-US" altLang="zh-CN" sz="1400" b="1" dirty="0"/>
              <a:t>Solution and Insights:</a:t>
            </a:r>
            <a:r>
              <a:rPr kumimoji="1" lang="zh-CN" altLang="en-US" sz="1400" b="1" dirty="0"/>
              <a:t> </a:t>
            </a:r>
            <a:endParaRPr kumimoji="1" lang="en-US" altLang="zh-CN" sz="1400" b="1" dirty="0"/>
          </a:p>
          <a:p>
            <a:pPr algn="just"/>
            <a:r>
              <a:rPr kumimoji="1" lang="en-US" altLang="zh-CN" sz="1400" dirty="0"/>
              <a:t>We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create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a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benchmark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to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systematically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evaluate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the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performance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of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LLMs and RAG solutions:</a:t>
            </a:r>
          </a:p>
          <a:p>
            <a:pPr marL="342900" indent="-342900" algn="just">
              <a:buAutoNum type="arabicParenR"/>
            </a:pPr>
            <a:r>
              <a:rPr kumimoji="1" lang="en-US" altLang="zh-CN" sz="1400" dirty="0"/>
              <a:t>Existing solutions are far from perfect in terms of real-time and fast-changing questions.</a:t>
            </a:r>
          </a:p>
          <a:p>
            <a:pPr marL="342900" indent="-342900" algn="just">
              <a:buAutoNum type="arabicParenR"/>
            </a:pPr>
            <a:r>
              <a:rPr kumimoji="1" lang="en-US" altLang="zh-CN" sz="1400" dirty="0"/>
              <a:t>Complex questions such as aggregation questions are difficult for existing methods.</a:t>
            </a:r>
          </a:p>
          <a:p>
            <a:pPr marL="342900" indent="-342900" algn="just">
              <a:buAutoNum type="arabicParenR"/>
            </a:pPr>
            <a:r>
              <a:rPr kumimoji="1" lang="en-US" altLang="zh-CN" sz="1400" dirty="0"/>
              <a:t>Hallucination issue is severe and greatly influence the trustworthiness of the answers.</a:t>
            </a:r>
          </a:p>
          <a:p>
            <a:pPr marL="342900" indent="-342900" algn="just">
              <a:buAutoNum type="arabicParenR"/>
            </a:pPr>
            <a:endParaRPr kumimoji="1" lang="en-US" altLang="zh-CN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191F33B-4120-2792-C750-3810A6453204}"/>
              </a:ext>
            </a:extLst>
          </p:cNvPr>
          <p:cNvSpPr txBox="1"/>
          <p:nvPr/>
        </p:nvSpPr>
        <p:spPr>
          <a:xfrm>
            <a:off x="4224286" y="2025908"/>
            <a:ext cx="383169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1400" b="1" dirty="0"/>
              <a:t>KERAG (EMNLP</a:t>
            </a:r>
            <a:r>
              <a:rPr kumimoji="1" lang="zh-CN" altLang="en-US" sz="1400" b="1" dirty="0"/>
              <a:t> </a:t>
            </a:r>
            <a:r>
              <a:rPr kumimoji="1" lang="en-US" altLang="zh-CN" sz="1400" b="1" dirty="0"/>
              <a:t>2025)</a:t>
            </a:r>
          </a:p>
          <a:p>
            <a:pPr algn="just"/>
            <a:endParaRPr kumimoji="1" lang="en-US" altLang="zh-CN" sz="1400" dirty="0"/>
          </a:p>
          <a:p>
            <a:pPr algn="just"/>
            <a:r>
              <a:rPr kumimoji="1" lang="en-US" altLang="zh-CN" sz="1400" b="1" dirty="0"/>
              <a:t>Task: </a:t>
            </a:r>
            <a:r>
              <a:rPr kumimoji="1" lang="en-US" altLang="zh-CN" sz="1400" dirty="0"/>
              <a:t>KG-based RAG</a:t>
            </a:r>
          </a:p>
          <a:p>
            <a:pPr algn="just"/>
            <a:r>
              <a:rPr kumimoji="1" lang="en-US" altLang="zh-CN" sz="1400" b="1" dirty="0"/>
              <a:t>Challenges</a:t>
            </a:r>
            <a:r>
              <a:rPr kumimoji="1" lang="zh-CN" altLang="en-US" sz="1400" b="1" dirty="0"/>
              <a:t> </a:t>
            </a:r>
            <a:r>
              <a:rPr kumimoji="1" lang="en-US" altLang="zh-CN" sz="1400" b="1" dirty="0"/>
              <a:t>/</a:t>
            </a:r>
            <a:r>
              <a:rPr kumimoji="1" lang="zh-CN" altLang="en-US" sz="1400" b="1" dirty="0"/>
              <a:t> </a:t>
            </a:r>
            <a:r>
              <a:rPr kumimoji="1" lang="en-US" altLang="zh-CN" sz="1400" b="1" dirty="0"/>
              <a:t>Limitations:</a:t>
            </a:r>
            <a:r>
              <a:rPr kumimoji="1" lang="zh-CN" altLang="en-US" sz="1400" b="1" dirty="0"/>
              <a:t> </a:t>
            </a:r>
            <a:endParaRPr kumimoji="1" lang="en-US" altLang="zh-CN" sz="1400" b="1" dirty="0"/>
          </a:p>
          <a:p>
            <a:pPr algn="just"/>
            <a:r>
              <a:rPr kumimoji="1" lang="en-US" altLang="zh-CN" sz="1400" dirty="0"/>
              <a:t>KG-based QA offers high precision, but often suffers from low recall. Can we boost recall without sacrificing QA accuracy?</a:t>
            </a:r>
            <a:endParaRPr kumimoji="1" lang="en-US" altLang="zh-CN" sz="1400" b="1" dirty="0"/>
          </a:p>
          <a:p>
            <a:pPr algn="just"/>
            <a:r>
              <a:rPr kumimoji="1" lang="en-US" altLang="zh-CN" sz="1400" b="1" dirty="0"/>
              <a:t>Solution:</a:t>
            </a:r>
            <a:r>
              <a:rPr kumimoji="1" lang="zh-CN" altLang="en-US" sz="1400" b="1" dirty="0"/>
              <a:t> </a:t>
            </a:r>
            <a:endParaRPr kumimoji="1" lang="en-US" altLang="zh-CN" sz="1400" b="1" dirty="0"/>
          </a:p>
          <a:p>
            <a:pPr algn="just"/>
            <a:r>
              <a:rPr kumimoji="1" lang="en-US" altLang="zh-CN" sz="1400" dirty="0"/>
              <a:t>We proposed KERAG, a novel KG-based RAG pipeline, which retrieves information at the entity level, rather than the triple level done by traditional methods.</a:t>
            </a:r>
          </a:p>
          <a:p>
            <a:pPr algn="just"/>
            <a:r>
              <a:rPr kumimoji="1" lang="en-US" altLang="zh-CN" sz="1400" dirty="0"/>
              <a:t>KERAG shows how KG subgraph search + LLM reasoning can yield more complete and accurate answers (+7% accuracy over SOTA</a:t>
            </a:r>
            <a:r>
              <a:rPr kumimoji="1" lang="zh-CN" altLang="en-US" sz="1400" dirty="0"/>
              <a:t>， </a:t>
            </a:r>
            <a:r>
              <a:rPr kumimoji="1" lang="en-US" altLang="zh-CN" sz="1400" dirty="0"/>
              <a:t>+10-21%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over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GPT-4o tool model on CRAG).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74392C6-5764-8779-B5C4-D34CDA77A16F}"/>
              </a:ext>
            </a:extLst>
          </p:cNvPr>
          <p:cNvSpPr txBox="1"/>
          <p:nvPr/>
        </p:nvSpPr>
        <p:spPr>
          <a:xfrm>
            <a:off x="8055978" y="2025908"/>
            <a:ext cx="395177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1400" b="1" dirty="0" err="1"/>
              <a:t>CacheRAG</a:t>
            </a:r>
            <a:r>
              <a:rPr kumimoji="1" lang="en-US" altLang="zh-CN" sz="1400" b="1" dirty="0"/>
              <a:t> (Revision VLDB</a:t>
            </a:r>
            <a:r>
              <a:rPr kumimoji="1" lang="zh-CN" altLang="en-US" sz="1400" b="1" dirty="0"/>
              <a:t> </a:t>
            </a:r>
            <a:r>
              <a:rPr kumimoji="1" lang="en-US" altLang="zh-CN" sz="1400" b="1" dirty="0"/>
              <a:t>2026)</a:t>
            </a:r>
          </a:p>
          <a:p>
            <a:pPr algn="just"/>
            <a:endParaRPr kumimoji="1" lang="en-US" altLang="zh-CN" sz="1400" dirty="0"/>
          </a:p>
          <a:p>
            <a:pPr algn="just"/>
            <a:r>
              <a:rPr kumimoji="1" lang="en-US" altLang="zh-CN" sz="1400" b="1" dirty="0"/>
              <a:t>Task:</a:t>
            </a:r>
            <a:r>
              <a:rPr kumimoji="1" lang="zh-CN" altLang="en-US" sz="1400" b="1" dirty="0"/>
              <a:t> </a:t>
            </a:r>
            <a:r>
              <a:rPr kumimoji="1" lang="en-US" altLang="zh-CN" sz="1400" dirty="0"/>
              <a:t>KG-based RAG</a:t>
            </a:r>
            <a:endParaRPr kumimoji="1" lang="en-US" altLang="zh-CN" sz="1400" b="1" dirty="0"/>
          </a:p>
          <a:p>
            <a:pPr algn="just"/>
            <a:r>
              <a:rPr kumimoji="1" lang="en-US" altLang="zh-CN" sz="1400" b="1" dirty="0"/>
              <a:t>Challenges</a:t>
            </a:r>
            <a:r>
              <a:rPr kumimoji="1" lang="zh-CN" altLang="en-US" sz="1400" b="1" dirty="0"/>
              <a:t> </a:t>
            </a:r>
            <a:r>
              <a:rPr kumimoji="1" lang="en-US" altLang="zh-CN" sz="1400" b="1" dirty="0"/>
              <a:t>/</a:t>
            </a:r>
            <a:r>
              <a:rPr kumimoji="1" lang="zh-CN" altLang="en-US" sz="1400" b="1" dirty="0"/>
              <a:t> </a:t>
            </a:r>
            <a:r>
              <a:rPr kumimoji="1" lang="en-US" altLang="zh-CN" sz="1400" b="1" dirty="0"/>
              <a:t>Limitations:</a:t>
            </a:r>
            <a:r>
              <a:rPr kumimoji="1" lang="zh-CN" altLang="en-US" sz="1400" b="1" dirty="0"/>
              <a:t> </a:t>
            </a:r>
            <a:endParaRPr kumimoji="1" lang="en-US" altLang="zh-CN" sz="1400" b="1" dirty="0"/>
          </a:p>
          <a:p>
            <a:pPr algn="just"/>
            <a:r>
              <a:rPr kumimoji="1" lang="en-US" altLang="zh-CN" sz="1400" dirty="0"/>
              <a:t>Existing RAG solution often ignores the value of experience replay and continual learning. Can we further boost the performance of KG-based RAG solutions by introducing experience history cache and continual learning?</a:t>
            </a:r>
          </a:p>
          <a:p>
            <a:pPr algn="just"/>
            <a:r>
              <a:rPr kumimoji="1" lang="en-US" altLang="zh-CN" sz="1400" b="1" dirty="0"/>
              <a:t>Solution:</a:t>
            </a:r>
            <a:r>
              <a:rPr kumimoji="1" lang="zh-CN" altLang="en-US" sz="1400" b="1" dirty="0"/>
              <a:t> </a:t>
            </a:r>
            <a:endParaRPr kumimoji="1" lang="en-US" altLang="zh-CN" sz="1400" b="1" dirty="0"/>
          </a:p>
          <a:p>
            <a:pPr algn="just"/>
            <a:r>
              <a:rPr kumimoji="1" lang="en-US" altLang="zh-CN" sz="1400" dirty="0"/>
              <a:t>We proposed </a:t>
            </a:r>
            <a:r>
              <a:rPr kumimoji="1" lang="en-US" altLang="zh-CN" sz="1400" dirty="0" err="1"/>
              <a:t>CacheRAG</a:t>
            </a:r>
            <a:r>
              <a:rPr kumimoji="1" lang="en-US" altLang="zh-CN" sz="1400" dirty="0"/>
              <a:t>, a novel cache-based KG RAG solution that utilizes a caching structure to provide useful experience for the LLM-based KG retrieval planner to continuously learn from the QA process. </a:t>
            </a:r>
          </a:p>
          <a:p>
            <a:pPr algn="just"/>
            <a:r>
              <a:rPr kumimoji="1" lang="en-US" altLang="zh-CN" sz="1400" dirty="0"/>
              <a:t>Our method boosts the SOTA performance by 13-18% on CRAG.</a:t>
            </a:r>
          </a:p>
        </p:txBody>
      </p:sp>
    </p:spTree>
    <p:extLst>
      <p:ext uri="{BB962C8B-B14F-4D97-AF65-F5344CB8AC3E}">
        <p14:creationId xmlns:p14="http://schemas.microsoft.com/office/powerpoint/2010/main" val="1315717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782</Words>
  <Application>Microsoft Macintosh PowerPoint</Application>
  <PresentationFormat>宽屏</PresentationFormat>
  <Paragraphs>93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About me</vt:lpstr>
      <vt:lpstr>My Interest</vt:lpstr>
      <vt:lpstr>How to manage data</vt:lpstr>
      <vt:lpstr>How to manage data</vt:lpstr>
      <vt:lpstr>How to manage data</vt:lpstr>
      <vt:lpstr>How to use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Yushi SUN</dc:creator>
  <cp:lastModifiedBy>Yushi SUN</cp:lastModifiedBy>
  <cp:revision>104</cp:revision>
  <dcterms:created xsi:type="dcterms:W3CDTF">2025-10-19T12:51:09Z</dcterms:created>
  <dcterms:modified xsi:type="dcterms:W3CDTF">2025-10-20T08:15:07Z</dcterms:modified>
</cp:coreProperties>
</file>